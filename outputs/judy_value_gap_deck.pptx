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f8a13d8a74f5f" /><Relationship Type="http://schemas.openxmlformats.org/officeDocument/2006/relationships/extended-properties" Target="/docProps/app.xml" Id="R46643ef07db54406" /><Relationship Type="http://schemas.openxmlformats.org/officeDocument/2006/relationships/officeDocument" Target="/ppt/presentation.xml" Id="R793d0cb36560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917682b5441d6"/>
  </p:sldMasterIdLst>
  <p:notesMasterIdLst>
    <p:notesMasterId xmlns:r="http://schemas.openxmlformats.org/officeDocument/2006/relationships" r:id="Rf2435640a4b44c97"/>
  </p:notesMasterIdLst>
  <p:sldIdLst>
    <p:sldId xmlns:r="http://schemas.openxmlformats.org/officeDocument/2006/relationships" id="256" r:id="Re97ae919181149cb"/>
    <p:sldId xmlns:r="http://schemas.openxmlformats.org/officeDocument/2006/relationships" id="257" r:id="R39b7dac286f346c7"/>
    <p:sldId xmlns:r="http://schemas.openxmlformats.org/officeDocument/2006/relationships" id="258" r:id="Re68e613251d84856"/>
    <p:sldId xmlns:r="http://schemas.openxmlformats.org/officeDocument/2006/relationships" id="259" r:id="R3c84fa9c6dd7447c"/>
    <p:sldId xmlns:r="http://schemas.openxmlformats.org/officeDocument/2006/relationships" id="260" r:id="R727fc902846f458a"/>
    <p:sldId xmlns:r="http://schemas.openxmlformats.org/officeDocument/2006/relationships" id="261" r:id="Rbc97c6f728b8487a"/>
    <p:sldId xmlns:r="http://schemas.openxmlformats.org/officeDocument/2006/relationships" id="262" r:id="R43d47a79c8254f6d"/>
    <p:sldId xmlns:r="http://schemas.openxmlformats.org/officeDocument/2006/relationships" id="263" r:id="R5937f89bc5024a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161a7cefdb4e03" /><Relationship Type="http://schemas.openxmlformats.org/officeDocument/2006/relationships/slideMaster" Target="/ppt/slideMasters/slideMaster1.xml" Id="R4ce917682b5441d6" /><Relationship Type="http://schemas.openxmlformats.org/officeDocument/2006/relationships/notesMaster" Target="/ppt/notesMasters/notesMaster1.xml" Id="Rf2435640a4b44c97" /><Relationship Type="http://schemas.openxmlformats.org/officeDocument/2006/relationships/presProps" Target="/ppt/presProps.xml" Id="R9967579dbe5844e3" /><Relationship Type="http://schemas.openxmlformats.org/officeDocument/2006/relationships/tableStyles" Target="/ppt/tableStyles.xml" Id="R7371e11846b4409e" /><Relationship Type="http://schemas.openxmlformats.org/officeDocument/2006/relationships/slide" Target="/ppt/slides/slide1.xml" Id="Re97ae919181149cb" /><Relationship Type="http://schemas.openxmlformats.org/officeDocument/2006/relationships/slide" Target="/ppt/slides/slide2.xml" Id="R39b7dac286f346c7" /><Relationship Type="http://schemas.openxmlformats.org/officeDocument/2006/relationships/slide" Target="/ppt/slides/slide3.xml" Id="Re68e613251d84856" /><Relationship Type="http://schemas.openxmlformats.org/officeDocument/2006/relationships/slide" Target="/ppt/slides/slide4.xml" Id="R3c84fa9c6dd7447c" /><Relationship Type="http://schemas.openxmlformats.org/officeDocument/2006/relationships/slide" Target="/ppt/slides/slide5.xml" Id="R727fc902846f458a" /><Relationship Type="http://schemas.openxmlformats.org/officeDocument/2006/relationships/slide" Target="/ppt/slides/slide6.xml" Id="Rbc97c6f728b8487a" /><Relationship Type="http://schemas.openxmlformats.org/officeDocument/2006/relationships/slide" Target="/ppt/slides/slide7.xml" Id="R43d47a79c8254f6d" /><Relationship Type="http://schemas.openxmlformats.org/officeDocument/2006/relationships/slide" Target="/ppt/slides/slide8.xml" Id="R5937f89bc502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2fa3a9077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4904e270446f2" /><Relationship Type="http://schemas.openxmlformats.org/officeDocument/2006/relationships/notesMaster" Target="/ppt/notesMasters/notesMaster1.xml" Id="Rff96ee863953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d0287495a34e85" /><Relationship Type="http://schemas.openxmlformats.org/officeDocument/2006/relationships/notesMaster" Target="/ppt/notesMasters/notesMaster1.xml" Id="Rf048865fcdb5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021209bbf94a3e" /><Relationship Type="http://schemas.openxmlformats.org/officeDocument/2006/relationships/notesMaster" Target="/ppt/notesMasters/notesMaster1.xml" Id="R0125366a8915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950f016d284fd1" /><Relationship Type="http://schemas.openxmlformats.org/officeDocument/2006/relationships/notesMaster" Target="/ppt/notesMasters/notesMaster1.xml" Id="R7fa366a1779442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1aef798e24be6" /><Relationship Type="http://schemas.openxmlformats.org/officeDocument/2006/relationships/notesMaster" Target="/ppt/notesMasters/notesMaster1.xml" Id="R497bd3f2241b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66879ed8624ef3" /><Relationship Type="http://schemas.openxmlformats.org/officeDocument/2006/relationships/notesMaster" Target="/ppt/notesMasters/notesMaster1.xml" Id="R040e43d859e448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c67b308cc349ae" /><Relationship Type="http://schemas.openxmlformats.org/officeDocument/2006/relationships/notesMaster" Target="/ppt/notesMasters/notesMaster1.xml" Id="Rd0bb12177ba64f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d2eedc8923448d" /><Relationship Type="http://schemas.openxmlformats.org/officeDocument/2006/relationships/notesMaster" Target="/ppt/notesMasters/notesMaster1.xml" Id="Rcbdadfe1b3f3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87564606745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77906aea94c90" /><Relationship Type="http://schemas.openxmlformats.org/officeDocument/2006/relationships/slideLayout" Target="/ppt/slideLayouts/slideLayout1.xml" Id="R4506a33b13f141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06a33b13f141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6e3e5d2bc412b" /><Relationship Type="http://schemas.openxmlformats.org/officeDocument/2006/relationships/notesSlide" Target="/ppt/notesSlides/notesSlide1.xml" Id="R5c643684a09745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cb5061b747bf" /><Relationship Type="http://schemas.openxmlformats.org/officeDocument/2006/relationships/chart" Target="/ppt/slides/charts/chart1.xml" Id="R20c29a94f4af4fab" /><Relationship Type="http://schemas.openxmlformats.org/officeDocument/2006/relationships/notesSlide" Target="/ppt/notesSlides/notesSlide2.xml" Id="R0eab02971ba442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499a08191442c" /><Relationship Type="http://schemas.openxmlformats.org/officeDocument/2006/relationships/notesSlide" Target="/ppt/notesSlides/notesSlide3.xml" Id="Redc0e80e82e1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6684ccb9d4785" /><Relationship Type="http://schemas.openxmlformats.org/officeDocument/2006/relationships/notesSlide" Target="/ppt/notesSlides/notesSlide4.xml" Id="R560481c57c2c47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34b2cfb6c408e" /><Relationship Type="http://schemas.openxmlformats.org/officeDocument/2006/relationships/notesSlide" Target="/ppt/notesSlides/notesSlide5.xml" Id="R0ab20344f07d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1bc7cef9649a0" /><Relationship Type="http://schemas.openxmlformats.org/officeDocument/2006/relationships/notesSlide" Target="/ppt/notesSlides/notesSlide6.xml" Id="Rb705773f4a9a49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884d8c9eb4505" /><Relationship Type="http://schemas.openxmlformats.org/officeDocument/2006/relationships/notesSlide" Target="/ppt/notesSlides/notesSlide7.xml" Id="R6e02cfb46444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c4e547aa4fb3" /><Relationship Type="http://schemas.openxmlformats.org/officeDocument/2006/relationships/notesSlide" Target="/ppt/notesSlides/notesSlide8.xml" Id="R575e542fb55d4f3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Agreement</c:v>
          </c:tx>
          <c:spPr>
            <a:solidFill xmlns:a="http://schemas.openxmlformats.org/drawingml/2006/main">
              <a:srgbClr val="1E8E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Overall RewardBench sample</c:v>
              </c:pt>
              <c:pt idx="1">
                <c:v>Adversarial subset</c:v>
              </c:pt>
            </c:strLit>
          </c:cat>
          <c:val>
            <c:numLit>
              <c:formatCode>General</c:formatCode>
              <c:ptCount val="2"/>
              <c:pt idx="0">
                <c:v>88.6</c:v>
              </c:pt>
              <c:pt idx="1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5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D88A8-FAF8-4E0F-98FC-6E3B7343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28877-6087-44C8-B260-E36F29F7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Why Judy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BA8B5-417E-4CF7-BCC6-253CEF93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418"/>
                </a:solidFill>
              </a:defRPr>
            </a:pPr>
            <a:r>
              <a:rPr sz="4050" b="1">
                <a:solidFill>
                  <a:srgbClr val="101418"/>
                </a:solidFill>
              </a:rPr>
              <a:t>Judy</a:t>
            </a:r>
          </a:p>
          <a:p xmlns:a="http://schemas.openxmlformats.org/drawingml/2006/main">
            <a:pPr algn="l">
              <a:defRPr sz="4050" b="1">
                <a:solidFill>
                  <a:srgbClr val="101418"/>
                </a:solidFill>
              </a:defRPr>
            </a:pPr>
            <a:r>
              <a:rPr sz="4050" b="1">
                <a:solidFill>
                  <a:srgbClr val="101418"/>
                </a:solidFill>
              </a:rPr>
              <a:t>A self-learning system of judges and juries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13ACB-EB6A-4AFF-9028-4700C26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0"/>
                </a:solidFill>
              </a:defRPr>
            </a:pPr>
            <a:r>
              <a:rPr sz="1800" b="0">
                <a:solidFill>
                  <a:srgbClr val="5B6570"/>
                </a:solidFill>
              </a:rPr>
              <a:t>A deck on the real gap in LLM-as-a-judge, why that gap matters, and why Judy is a credible way to close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580D7-C7F2-4A86-8A39-7CF6E7EA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2952750" cy="40005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25B86-5991-47E4-9388-4F66712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47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Core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558D2-365A-424C-AB89-00ACC5C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09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The goal is not to build one more judge.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The goal is to build an evaluator that can learn from failure, test whether that learning is real, and eventually move from a single verdict to structured deliberation.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72270-3653-408D-B3F5-7B73373D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A5A55-F814-44D1-9154-4CFAFFCB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8262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E4509-A11C-4DE0-ABC9-4F4A39A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The real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816D-D61C-4391-BF3E-47804AC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Many LLM judges look strong on averages and still fail where evaluation matters most.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1D4FE-E762-46E9-98BB-EDB4A72E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F9767-6D6A-42F1-864B-747E39BB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Averages hide weakness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BD35-5895-460D-B5C7-2378F10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Easy subsets saturate, so a single benchmark number can make a weak judge look reliable.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38DC-8A4A-46B0-B4A5-B168AD66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91C1-63A8-44F4-A455-A3F8F896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Fluency masks wrongness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A552C-4DE2-4DC2-B438-FC013F92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Polished answers often win even when they violate the spec, miss evidence, or make unsafe moves.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6007B-AFC8-4C6E-A5BA-587AB3F1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51FD5-7F99-4EDC-83F2-6E5B008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Consistency is not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EEA1B-1343-4868-9529-8EB85C1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A judge agreeing with itself more does not prove it became more correct.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42725-6C7D-4CDC-9541-0F8A5BB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1E111-E1FE-474D-96E0-311B0DE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What the current baseline already tells us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572000" y="4429125"/>
          <a:ext xmlns:a="http://schemas.openxmlformats.org/drawingml/2006/main" cx="51435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c29a94f4af4fa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F15A6-65FA-410C-B03C-D85A0B2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On a 35-item RewardBench sample, the vanilla judge reaches 88.6% overall agreement. But on `llmbar-adver-neighbor`, it drops to 50%: chance performance on fluent-but-wrong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D745E-CAEC-4B7D-80AF-BC8B913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1CE4B-8BA7-46C4-ADBD-883B4B3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2320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FED91-B97B-4417-BD66-9C6EB1F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What Judy does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CFBAB-3F90-43FD-97FF-A43E3C93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Judy treats evaluation as a learning loop, not a one-shot model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C0EF1-E5DE-45DD-82BE-BD6E06A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435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5C4F6-A86A-47EE-A00C-16786EA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048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8E5A"/>
                </a:solidFill>
              </a:defRPr>
            </a:pPr>
            <a:r>
              <a:rPr sz="1350" b="1">
                <a:solidFill>
                  <a:srgbClr val="1E8E5A"/>
                </a:solidFill>
              </a:rPr>
              <a:t>Core ablation:</a:t>
            </a:r>
          </a:p>
          <a:p xmlns:a="http://schemas.openxmlformats.org/drawingml/2006/main">
            <a:pPr algn="ctr">
              <a:defRPr sz="1350" b="1">
                <a:solidFill>
                  <a:srgbClr val="1E8E5A"/>
                </a:solidFill>
              </a:defRPr>
            </a:pPr>
            <a:r>
              <a:rPr sz="1350" b="1">
                <a:solidFill>
                  <a:srgbClr val="1E8E5A"/>
                </a:solidFill>
              </a:rPr>
              <a:t>anchored vs. unanchored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5BCC0-FEDC-4851-A0A3-B4F154DE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553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0010-8843-4644-897C-9C991BC8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AFBFE-E086-4FEB-8501-335903B1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E5A"/>
                </a:solidFill>
              </a:defRPr>
            </a:pPr>
            <a:r>
              <a:rPr sz="1050" b="1">
                <a:solidFill>
                  <a:srgbClr val="1E8E5A"/>
                </a:solidFill>
              </a:rPr>
              <a:t>1. Evaluate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50455-7CCF-4065-8538-8A05731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Judge two answers against the actual prompt, constraints, and format rules..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A0031-E2CA-4FF1-A9A6-E9CFCC1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E5F3A-6ABD-4D8A-A324-B0157AD1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553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5F5BC-6453-4BED-87A9-E4AE82B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30D6C-7750-45AA-B040-871584A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E5A"/>
                </a:solidFill>
              </a:defRPr>
            </a:pPr>
            <a:r>
              <a:rPr sz="1050" b="1">
                <a:solidFill>
                  <a:srgbClr val="1E8E5A"/>
                </a:solidFill>
              </a:rPr>
              <a:t>2. Analyze 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26C51-675B-4588-AFA8-DB5ACF1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908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Inspect where the judge was fooled and which task-general lesson would have prevented the error..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2DC37-B5D5-46BF-A362-807C41D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AA321-B58E-4563-B787-E04FC2A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553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44A2C-4336-418A-9E3C-2F48AF8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0F19-58AD-4EE9-BB3B-E0A540E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E5A"/>
                </a:solidFill>
              </a:defRPr>
            </a:pPr>
            <a:r>
              <a:rPr sz="1050" b="1">
                <a:solidFill>
                  <a:srgbClr val="1E8E5A"/>
                </a:solidFill>
              </a:rPr>
              <a:t>3. Rewrite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76DD1-61F4-4F7B-A60E-2FCC51B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Update the judging skill, not the answer under review..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B5B29-AD62-405C-AB99-2CAF0E7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243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53B6B-95C6-4C71-A476-01E737C0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53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3A02D-1375-40FA-94C4-77B87793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92216-D54A-4326-803A-FAD3B3D1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E5A"/>
                </a:solidFill>
              </a:defRPr>
            </a:pPr>
            <a:r>
              <a:rPr sz="1050" b="1">
                <a:solidFill>
                  <a:srgbClr val="1E8E5A"/>
                </a:solidFill>
              </a:rPr>
              <a:t>4. Re-test on held-out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71AF3-0DA7-4E56-B394-D1F66D3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244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</a:defRPr>
            </a:pPr>
            <a:r>
              <a:rPr sz="1500" b="1">
                <a:solidFill>
                  <a:srgbClr val="101418"/>
                </a:solidFill>
              </a:rPr>
              <a:t>Measure whether the new policy improves on unseen task types instead of only sounding smarter..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4E2FB-1742-4D2A-9DAD-D4516F5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11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6E6BC-F196-49D6-BF6A-B454DDA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C48DA-1BC3-46F0-8C86-D5326E39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2925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B427E-5457-4929-B862-E0F61B59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Why this approach is defensible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41783-B5C5-487C-962B-D36C820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Judy is useful because it measures real evaluator improvement instead of polishing model theater.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1223B-CCC1-47D2-9EFA-2663F4AF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05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264EA-48A4-4D4D-8D4F-3A59D4C0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External 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A4ADF-A4C7-4DF9-BF69-E6E8D312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Improvement is checked against known ordering or benchmark labels, not just self-consistency.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490A5-D50E-45A2-A41B-853ED445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105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BD55D-61A7-4A4C-B8BE-CC6F4D3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Unseen task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915FC-05A0-43C6-9F89-0906E8CA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The held-out split contains task types the judge never learns from during policy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727A6-9729-448C-8D63-EAC3A0A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105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D244E-5194-440A-9F52-F2DC3C3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Bias-aware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39C7B-8875-4538-ACFB-200E41E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Agreement alone is not enough. Judy also tracks position-consistency and score-spread.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2D93C-0A99-40ED-B19F-69E5689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105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C096-0BFE-4749-A062-9302093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Method spectrum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D5ABC-7434-4807-8704-F093969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The system starts with cheap, legible context improvement and creates a clean baseline for later tuning and jury methods.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D1F1B-602A-49C8-A7FA-AD4186A9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F23E0-63E9-4076-95B6-493E1B4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0913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EFF13-AB18-4045-98FD-ACD86F0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Why Judy matters beyond this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070A1-972F-49F3-B619-3DC9AD5D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A better evaluator is leverage: it improves how future systems are trained, reviewed, and trusted.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2D5B-243A-411E-BFA3-5BB2E698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05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3980E-F0F0-4F88-8779-06C8860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Better model iteration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FC314-F956-4851-B52F-EA5C97A0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If the evaluator is weak, every downstream improvement loop is noisy or misdirected.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BBEC9-5451-4096-8FC7-5044AF8C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105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A459B-E755-4498-BFB1-2F4F4FE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More trustworthy benchmarking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3099D-189B-4086-83F2-73905D3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Hard-case-aware evaluation prevents teams from overclaiming progress based on easy averages.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EBBB5-2639-4A92-B09E-25248AD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105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137EE-F0CE-4E60-AE10-C9F87CF1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Lower human review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76FC5-4EAD-4A69-840B-10B1E37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A judge that knows when it is weak can route fewer, better cases to human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1715D-2CBE-4410-BBF2-620C778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5105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D84BD-6257-466D-9BE9-12BDCF6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Path to richer decision-making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55C78-54FE-4302-A75E-57FFFBDF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The judge-and-jury vision opens the door to multiple perspectives: correctness, helpfulness, preference, and bias.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F167C-3B39-4907-A8FA-463FE704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17D1B-126E-40F1-900C-2B812082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4783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27B88-47FB-4A30-83A6-40EEE31E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What exists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C1F1A-DFEA-4A09-9245-73414B48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Judy already has a credible technical core, not just a pitch.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8CFB-FF3C-4195-814A-3C518B1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054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EB15C-2839-4597-9CE8-A12DA2B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347F5-1301-4E6E-A6F8-68898E0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Headless judge, metrics, reflection, and loop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CA28F-CE0C-410B-8E33-61B280DA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4AB53-D1C1-4030-AAAD-2DDB6E48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Anchored vs. unanchored self-improvement framing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A7FC9-0B55-4422-AAB8-8F58196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8AA15-9B43-477B-A02C-748A522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RewardBench and JudgeBench baseline tooling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3624D-FA71-47E7-9BAB-EE246E1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A2F5C-E23B-4815-B6A3-50F73C7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Synthetic benchmark generation and review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4426C-AA31-48CE-A68A-9A84C656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054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149D3-BDDC-487F-B0FD-53248C0F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F8530-2028-4637-B6ED-30714DA4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Live Railway-hosted UI for narrative and demo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CDE86-3E84-4F98-B5BD-3ABDE472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757A2-AF09-4674-BB65-B1DE3CC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Pointwise and pairwise judging surfaces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907F7-6838-4060-A794-3BC1F07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93EB8-AD9F-4696-B392-1F375D53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Gemini tuning export scaffolding for weight-update baselines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CFA94-09CA-496C-8367-FF31EB1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9525">
            <a:solidFill>
              <a:srgbClr val="1E8E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B4BD0-9957-4E82-8A6F-9D2C8D29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Clear next-step path toward jury, bias probes, and grounding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14E67-81D7-4369-8DEE-6FB1BF01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A1287-9D0E-473A-AF9B-0EB98C7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9211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1661B-DBD5-40A4-B931-3C4B94B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DD4B2-FAB0-4265-A036-8FFDBBD9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The roadmap is built to move from legible evaluation improvement to frontier evaluator systems.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B2F7-345F-4E00-A056-D72DD9DF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19050">
            <a:solidFill>
              <a:srgbClr val="1E8E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2CC08-6734-434A-8103-EF6EF9B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E5A"/>
                </a:solidFill>
              </a:defRPr>
            </a:pPr>
            <a:r>
              <a:rPr sz="1800" b="1">
                <a:solidFill>
                  <a:srgbClr val="1E8E5A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92DE9-5FBF-4619-AF33-5D42CD4D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43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Ship the live API, replace mock UI data, and deepen hard-subset benchmarking.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5525B-02C0-4D7E-BB3B-8DA9B8C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62511-8784-417F-A0F8-EA2731C6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53CA7-3ED2-4892-88EC-96A44CE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1943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Run Gemini tuning baselines and test whether modest weight updates outperform prompt-only improvement.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49196-A96A-4D51-9E5A-5DA2954D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071CC-09DC-430E-9E3D-DE7EC7FB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Then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E5ED-3708-44AB-9C5F-8A49A7B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1943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Add stronger bias probes and selective grounding on uncertain or claim-heavy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C04FD-3641-45C7-BF85-0872054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70BD1-9AB4-4F85-A728-861AB3F4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9A600-E22B-4A68-A325-E7CC927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943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</a:defRPr>
            </a:pPr>
            <a:r>
              <a:rPr sz="1275" b="0">
                <a:solidFill>
                  <a:srgbClr val="5B6570"/>
                </a:solidFill>
              </a:rPr>
              <a:t>Move into judge-and-jury deliberation, preference learning, and active learning for human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2F043-5AD1-42EF-9CCC-E34D1722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6F934-E4B4-4008-9FAC-625CDB1B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96348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6D102-22E7-49B4-96C8-30CEF86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</a:defRPr>
            </a:pPr>
            <a:r>
              <a:rPr sz="3600" b="1">
                <a:solidFill>
                  <a:srgbClr val="101418"/>
                </a:solidFill>
              </a:rPr>
              <a:t>Judy matters because better AI systems need better evaluators.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9587E-0B36-4504-B8AA-0A4F576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0"/>
                </a:solidFill>
              </a:defRPr>
            </a:pPr>
            <a:r>
              <a:rPr sz="1800" b="0">
                <a:solidFill>
                  <a:srgbClr val="5B6570"/>
                </a:solidFill>
              </a:rPr>
              <a:t>If we can make the judge learn, measure that learning honestly, and extend it toward structured deliberation, we improve the whole stack built on top of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8BF6B-9432-49A8-A42C-5626F913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5E5A1-1FAD-430B-B312-9DA1639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Closing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F4CE6-B857-4F7A-89DB-ED878965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66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From</a:t>
            </a:r>
          </a:p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single score</a:t>
            </a:r>
          </a:p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learning evaluator</a:t>
            </a:r>
          </a:p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1E8E5A"/>
                </a:solidFill>
              </a:defRPr>
            </a:pPr>
            <a:r>
              <a:rPr sz="2250" b="1">
                <a:solidFill>
                  <a:srgbClr val="1E8E5A"/>
                </a:solidFill>
              </a:rPr>
              <a:t>judge and jury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463F-83D7-4F61-8001-F40B8AFE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 · self-learning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A2A03-8B3E-4450-9114-6C72CE5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75258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2026-06-28T15:50:29.2620000Z</dcterms:created>
  <dcterms:modified xsi:type="dcterms:W3CDTF">2026-06-28T15:50:29.2620000Z</dcterms:modified>
</coreProperties>
</file>