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bd68f5e417420f" /><Relationship Type="http://schemas.openxmlformats.org/officeDocument/2006/relationships/extended-properties" Target="/docProps/app.xml" Id="R263d39e745af4406" /><Relationship Type="http://schemas.openxmlformats.org/officeDocument/2006/relationships/officeDocument" Target="/ppt/presentation.xml" Id="R61e4e191e1ff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a14487cde546ce"/>
  </p:sldMasterIdLst>
  <p:notesMasterIdLst>
    <p:notesMasterId xmlns:r="http://schemas.openxmlformats.org/officeDocument/2006/relationships" r:id="R456128831f66445c"/>
  </p:notesMasterIdLst>
  <p:sldIdLst>
    <p:sldId xmlns:r="http://schemas.openxmlformats.org/officeDocument/2006/relationships" id="256" r:id="Rc81788ab65e5489c"/>
    <p:sldId xmlns:r="http://schemas.openxmlformats.org/officeDocument/2006/relationships" id="257" r:id="Ra6c62706a5c94d72"/>
    <p:sldId xmlns:r="http://schemas.openxmlformats.org/officeDocument/2006/relationships" id="258" r:id="R61f2d0b4d4b742d8"/>
    <p:sldId xmlns:r="http://schemas.openxmlformats.org/officeDocument/2006/relationships" id="259" r:id="R82e94ebd03cc47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bc2f10eda49e6" /><Relationship Type="http://schemas.openxmlformats.org/officeDocument/2006/relationships/slideMaster" Target="/ppt/slideMasters/slideMaster1.xml" Id="R4da14487cde546ce" /><Relationship Type="http://schemas.openxmlformats.org/officeDocument/2006/relationships/notesMaster" Target="/ppt/notesMasters/notesMaster1.xml" Id="R456128831f66445c" /><Relationship Type="http://schemas.openxmlformats.org/officeDocument/2006/relationships/presProps" Target="/ppt/presProps.xml" Id="Rd2256c52be174a93" /><Relationship Type="http://schemas.openxmlformats.org/officeDocument/2006/relationships/tableStyles" Target="/ppt/tableStyles.xml" Id="Reff0538a7d454901" /><Relationship Type="http://schemas.openxmlformats.org/officeDocument/2006/relationships/slide" Target="/ppt/slides/slide1.xml" Id="Rc81788ab65e5489c" /><Relationship Type="http://schemas.openxmlformats.org/officeDocument/2006/relationships/slide" Target="/ppt/slides/slide2.xml" Id="Ra6c62706a5c94d72" /><Relationship Type="http://schemas.openxmlformats.org/officeDocument/2006/relationships/slide" Target="/ppt/slides/slide3.xml" Id="R61f2d0b4d4b742d8" /><Relationship Type="http://schemas.openxmlformats.org/officeDocument/2006/relationships/slide" Target="/ppt/slides/slide4.xml" Id="R82e94ebd03cc47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bfad2f6fb943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59c0d8cd874f5a" /><Relationship Type="http://schemas.openxmlformats.org/officeDocument/2006/relationships/notesMaster" Target="/ppt/notesMasters/notesMaster1.xml" Id="Rb2eafbfe69df46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640215ba004644" /><Relationship Type="http://schemas.openxmlformats.org/officeDocument/2006/relationships/notesMaster" Target="/ppt/notesMasters/notesMaster1.xml" Id="R735ee5447dd1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772ff882514700" /><Relationship Type="http://schemas.openxmlformats.org/officeDocument/2006/relationships/notesMaster" Target="/ppt/notesMasters/notesMaster1.xml" Id="R3275eeb89c3d45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db75d2f46e41c9" /><Relationship Type="http://schemas.openxmlformats.org/officeDocument/2006/relationships/notesMaster" Target="/ppt/notesMasters/notesMaster1.xml" Id="Rdce11cecea28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7daf92e5845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cf07d0b5564e18" /><Relationship Type="http://schemas.openxmlformats.org/officeDocument/2006/relationships/slideLayout" Target="/ppt/slideLayouts/slideLayout1.xml" Id="Rbb0ba15f4f9b4e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ba15f4f9b4e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b6c6778db453b" /><Relationship Type="http://schemas.openxmlformats.org/officeDocument/2006/relationships/notesSlide" Target="/ppt/notesSlides/notesSlide1.xml" Id="Rc2c119af1a0d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0a7918da0459a" /><Relationship Type="http://schemas.openxmlformats.org/officeDocument/2006/relationships/chart" Target="/ppt/slides/charts/chart1.xml" Id="R23fb42f2d81d4671" /><Relationship Type="http://schemas.openxmlformats.org/officeDocument/2006/relationships/notesSlide" Target="/ppt/notesSlides/notesSlide2.xml" Id="R121c86637ba847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3f7a33a13435e" /><Relationship Type="http://schemas.openxmlformats.org/officeDocument/2006/relationships/notesSlide" Target="/ppt/notesSlides/notesSlide3.xml" Id="R0206617d0bf54a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e57697e69494d" /><Relationship Type="http://schemas.openxmlformats.org/officeDocument/2006/relationships/notesSlide" Target="/ppt/notesSlides/notesSlide4.xml" Id="R1c2287039dab4a7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Agreement</c:v>
          </c:tx>
          <c:spPr>
            <a:solidFill xmlns:a="http://schemas.openxmlformats.org/drawingml/2006/main">
              <a:srgbClr val="1E8E5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Overall sample</c:v>
              </c:pt>
              <c:pt idx="1">
                <c:v>Hard subset</c:v>
              </c:pt>
            </c:strLit>
          </c:cat>
          <c:val>
            <c:numLit>
              <c:formatCode>General</c:formatCode>
              <c:ptCount val="2"/>
              <c:pt idx="0">
                <c:v>88.6</c:v>
              </c:pt>
              <c:pt idx="1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5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7EA0B-6E09-4D82-A718-9AE38FCE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905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17703-3B67-4C2B-8E2A-8687B3EA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E5A"/>
                </a:solidFill>
              </a:defRPr>
            </a:pPr>
            <a:r>
              <a:rPr sz="900" b="1">
                <a:solidFill>
                  <a:srgbClr val="1E8E5A"/>
                </a:solidFill>
              </a:rPr>
              <a:t>4-slide demo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E1728-2959-4933-BB3B-346A8A79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418"/>
                </a:solidFill>
              </a:defRPr>
            </a:pPr>
            <a:r>
              <a:rPr sz="4200" b="1">
                <a:solidFill>
                  <a:srgbClr val="111418"/>
                </a:solidFill>
              </a:rPr>
              <a:t>Judy</a:t>
            </a:r>
          </a:p>
          <a:p xmlns:a="http://schemas.openxmlformats.org/drawingml/2006/main">
            <a:pPr algn="l">
              <a:defRPr sz="4200" b="1">
                <a:solidFill>
                  <a:srgbClr val="111418"/>
                </a:solidFill>
              </a:defRPr>
            </a:pPr>
            <a:r>
              <a:rPr sz="4200" b="1">
                <a:solidFill>
                  <a:srgbClr val="111418"/>
                </a:solidFill>
              </a:rPr>
              <a:t>A self-learning system of judges and juries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D96DD-7276-40A7-B56D-25591686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0"/>
                </a:solidFill>
              </a:defRPr>
            </a:pPr>
            <a:r>
              <a:rPr sz="1800" b="0">
                <a:solidFill>
                  <a:srgbClr val="5B6570"/>
                </a:solidFill>
              </a:rPr>
              <a:t>Judy improves the evaluator itself: learn from failures, test on held-out tasks, and grow from one judge into structured deliberation.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731B-948A-47CA-AF7C-FF7B0BE9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667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75B56-1E09-4C93-8103-0BF169BF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</a:defRPr>
            </a:pPr>
            <a:r>
              <a:rPr sz="1800" b="1">
                <a:solidFill>
                  <a:srgbClr val="111418"/>
                </a:solidFill>
              </a:rPr>
              <a:t>Why this matters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111418"/>
                </a:solidFill>
              </a:defRPr>
            </a:pPr>
            <a:r>
              <a:rPr sz="1800" b="1">
                <a:solidFill>
                  <a:srgbClr val="111418"/>
                </a:solidFill>
              </a:rPr>
              <a:t>Better AI systems need better evaluators.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1E7D9-EE65-4293-84C8-1D4CE08E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83778-DAF8-4B1E-AE06-B87BC1B0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10461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CD9E0-8A2A-412A-B7C4-A50ED6CD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418"/>
                </a:solidFill>
              </a:defRPr>
            </a:pPr>
            <a:r>
              <a:rPr sz="2625" b="1">
                <a:solidFill>
                  <a:srgbClr val="111418"/>
                </a:solidFill>
              </a:rPr>
              <a:t>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E9507-BB70-48BE-AE3A-54E7A82A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Many LLM judges look strong on averages and fail on the cases that matter most.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0833A-FC0A-4AF6-92DC-3FE7EDB6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464CA-FE14-4F01-B446-528C9BF1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418"/>
                </a:solidFill>
              </a:defRPr>
            </a:pPr>
            <a:r>
              <a:rPr sz="1800" b="0">
                <a:solidFill>
                  <a:srgbClr val="111418"/>
                </a:solidFill>
              </a:rPr>
              <a:t>Easy subsets saturate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6B6A5-25FE-4C8C-8B5D-2E4D9EF2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81FB3-1539-4307-9326-B5E73F78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418"/>
                </a:solidFill>
              </a:defRPr>
            </a:pPr>
            <a:r>
              <a:rPr sz="1800" b="0">
                <a:solidFill>
                  <a:srgbClr val="111418"/>
                </a:solidFill>
              </a:rPr>
              <a:t>Fluent wrong answers still win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5D35A-8FE7-42F8-BF88-6DE88D95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896D2-C367-490F-809B-22033872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418"/>
                </a:solidFill>
              </a:defRPr>
            </a:pPr>
            <a:r>
              <a:rPr sz="1800" b="0">
                <a:solidFill>
                  <a:srgbClr val="111418"/>
                </a:solidFill>
              </a:rPr>
              <a:t>Self-consistency can look like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88C5B-7829-4F0C-B61E-E654A21F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60070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2E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34F1E-2DA3-4644-9A17-5D1D9EEE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418"/>
                </a:solidFill>
              </a:defRPr>
            </a:pPr>
            <a:r>
              <a:rPr sz="1500" b="1">
                <a:solidFill>
                  <a:srgbClr val="111418"/>
                </a:solidFill>
              </a:rPr>
              <a:t>Current baseline signal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715125" y="2571750"/>
          <a:ext xmlns:a="http://schemas.openxmlformats.org/drawingml/2006/main" cx="39052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fb42f2d81d467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338A8-0B4F-4785-8D2A-A137199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0"/>
                </a:solidFill>
              </a:defRPr>
            </a:pPr>
            <a:r>
              <a:rPr sz="1350" b="0">
                <a:solidFill>
                  <a:srgbClr val="5B6570"/>
                </a:solidFill>
              </a:rPr>
              <a:t>The vanilla judge reaches 88.6% on a small RewardBench sample, but falls to 50% on a hard adversarial subset.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596C3-8FAE-4535-B431-CE7157EA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CA8C6-4DA3-4381-B6A0-051539A8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32955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A8B58-0825-41B2-ADE7-8445A5A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418"/>
                </a:solidFill>
              </a:defRPr>
            </a:pPr>
            <a:r>
              <a:rPr sz="2625" b="1">
                <a:solidFill>
                  <a:srgbClr val="111418"/>
                </a:solidFill>
              </a:rPr>
              <a:t>What Judy does differently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762E9-275F-46D7-A13F-2D216A3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Judy turns evaluation into a learning loop and checks whether that learning is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8A15E-EE7A-4BE3-8488-01586A16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193C1-B780-465D-8A67-B0C5C3B4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B6338-B0A6-4FEE-A6EE-84CE8D4C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E5A"/>
                </a:solidFill>
              </a:defRPr>
            </a:pPr>
            <a:r>
              <a:rPr sz="900" b="1">
                <a:solidFill>
                  <a:srgbClr val="1E8E5A"/>
                </a:solidFill>
              </a:rPr>
              <a:t>1. Evaluate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B47F2-A330-43AB-8B1D-543B523E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193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</a:defRPr>
            </a:pPr>
            <a:r>
              <a:rPr sz="1650" b="0">
                <a:solidFill>
                  <a:srgbClr val="111418"/>
                </a:solidFill>
              </a:rPr>
              <a:t>Judge against the actual prompt and 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245E6-6485-47CF-AD6D-02F14BBA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191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2E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5F9E8-B0BF-4941-AF99-755D0F8E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D98C0-3C54-41FF-994B-A4E5F30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622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E5A"/>
                </a:solidFill>
              </a:defRPr>
            </a:pPr>
            <a:r>
              <a:rPr sz="900" b="1">
                <a:solidFill>
                  <a:srgbClr val="1E8E5A"/>
                </a:solidFill>
              </a:rPr>
              <a:t>2. Reflect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83B14-230E-412E-989E-1242A71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337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</a:defRPr>
            </a:pPr>
            <a:r>
              <a:rPr sz="1650" b="0">
                <a:solidFill>
                  <a:srgbClr val="111418"/>
                </a:solidFill>
              </a:rPr>
              <a:t>Find the lesson behind the mistake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B7DC8-D3A7-4F13-9B44-2A614599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191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567C9-650B-48DE-BE0F-F821EB18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6ED20-F61B-4D00-A61B-BC2344D5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76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E5A"/>
                </a:solidFill>
              </a:defRPr>
            </a:pPr>
            <a:r>
              <a:rPr sz="900" b="1">
                <a:solidFill>
                  <a:srgbClr val="1E8E5A"/>
                </a:solidFill>
              </a:rPr>
              <a:t>3. Rewrite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05DDD-7646-4515-A6B6-CDFC31F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48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</a:defRPr>
            </a:pPr>
            <a:r>
              <a:rPr sz="1650" b="0">
                <a:solidFill>
                  <a:srgbClr val="111418"/>
                </a:solidFill>
              </a:rPr>
              <a:t>Update the judging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3B225-A233-40F6-BC0B-7885D1F7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191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2EC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94E74-5EB1-434F-B6B8-7904B17C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DAD92-9598-4F4C-A0D2-F3556B1E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910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E5A"/>
                </a:solidFill>
              </a:defRPr>
            </a:pPr>
            <a:r>
              <a:rPr sz="900" b="1">
                <a:solidFill>
                  <a:srgbClr val="1E8E5A"/>
                </a:solidFill>
              </a:rPr>
              <a:t>4. Re-test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50945-31E1-4B5A-ADE4-0270987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625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418"/>
                </a:solidFill>
              </a:defRPr>
            </a:pPr>
            <a:r>
              <a:rPr sz="1650" b="0">
                <a:solidFill>
                  <a:srgbClr val="111418"/>
                </a:solidFill>
              </a:rPr>
              <a:t>Measure on held-out tasks and benchmarks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59624-5988-4E41-AC96-5792559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F1E6"/>
          </a:solidFill>
          <a:ln xmlns:a="http://schemas.openxmlformats.org/drawingml/2006/main" w="9525">
            <a:solidFill>
              <a:srgbClr val="D9F1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22185-D734-4316-9861-1C2893BD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8E5A"/>
                </a:solidFill>
              </a:defRPr>
            </a:pPr>
            <a:r>
              <a:rPr sz="1800" b="1">
                <a:solidFill>
                  <a:srgbClr val="1E8E5A"/>
                </a:solidFill>
              </a:rPr>
              <a:t>Technical 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E8E5A"/>
                </a:solidFill>
              </a:defRPr>
            </a:pPr>
            <a:r>
              <a:rPr sz="1800" b="1">
                <a:solidFill>
                  <a:srgbClr val="1E8E5A"/>
                </a:solidFill>
              </a:rPr>
              <a:t>anchored vs.</a:t>
            </a:r>
          </a:p>
          <a:p xmlns:a="http://schemas.openxmlformats.org/drawingml/2006/main">
            <a:pPr algn="ctr">
              <a:defRPr sz="1800" b="1">
                <a:solidFill>
                  <a:srgbClr val="1E8E5A"/>
                </a:solidFill>
              </a:defRPr>
            </a:pPr>
            <a:r>
              <a:rPr sz="1800" b="1">
                <a:solidFill>
                  <a:srgbClr val="1E8E5A"/>
                </a:solidFill>
              </a:rPr>
              <a:t>unanchored</a:t>
            </a:r>
          </a:p>
          <a:p xmlns:a="http://schemas.openxmlformats.org/drawingml/2006/main">
            <a:pPr algn="ctr">
              <a:defRPr sz="1800" b="1">
                <a:solidFill>
                  <a:srgbClr val="1E8E5A"/>
                </a:solidFill>
              </a:defRPr>
            </a:pPr>
            <a:r>
              <a:rPr sz="1800" b="1">
                <a:solidFill>
                  <a:srgbClr val="1E8E5A"/>
                </a:solidFill>
              </a:rPr>
              <a:t>self-improvement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81B65-00F2-4AA3-936E-BADD542C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7C0A3-CE0D-47CB-990E-B1DCF512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1867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74FBBB-5311-4FE9-927D-EB769A2B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418"/>
                </a:solidFill>
              </a:defRPr>
            </a:pPr>
            <a:r>
              <a:rPr sz="2625" b="1">
                <a:solidFill>
                  <a:srgbClr val="111418"/>
                </a:solidFill>
              </a:rPr>
              <a:t>What is novel, and what comes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C34EE-12D8-4622-B664-F53DD1B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0"/>
                </a:solidFill>
              </a:defRPr>
            </a:pPr>
            <a:r>
              <a:rPr sz="1500" b="0">
                <a:solidFill>
                  <a:srgbClr val="5B6570"/>
                </a:solidFill>
              </a:rPr>
              <a:t>The novelty is not one more prompt. It is evaluator improvement with held-out measurement and a path toward judge-and-jury systems.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429F3-59F3-47A5-878C-BA3A9845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07F85-960E-4FD6-BAF1-B9F17EA2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</a:defRPr>
            </a:pPr>
            <a:r>
              <a:rPr sz="1800" b="1">
                <a:solidFill>
                  <a:srgbClr val="111418"/>
                </a:solidFill>
              </a:rPr>
              <a:t>Novel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A3DB8-D505-4829-8003-91AF23AE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0"/>
                </a:solidFill>
              </a:defRPr>
            </a:pPr>
            <a:r>
              <a:rPr sz="1350" b="0">
                <a:solidFill>
                  <a:srgbClr val="5B6570"/>
                </a:solidFill>
              </a:rPr>
              <a:t>A judge that learns from failures, rewrites its own policy, and compares anchored learning against unanchored self-critique.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08034-7EC2-46B2-B0A0-1E453588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431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EBB61-D1FB-416B-B542-53306A2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0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</a:defRPr>
            </a:pPr>
            <a:r>
              <a:rPr sz="1800" b="1">
                <a:solidFill>
                  <a:srgbClr val="111418"/>
                </a:solidFill>
              </a:rPr>
              <a:t>Built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BFBE2-431E-4DA0-A007-8E38C918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0"/>
                </a:solidFill>
              </a:defRPr>
            </a:pPr>
            <a:r>
              <a:rPr sz="1350" b="0">
                <a:solidFill>
                  <a:srgbClr val="5B6570"/>
                </a:solidFill>
              </a:rPr>
              <a:t>Headless judge loop, benchmarks, synthetic benchmark pipeline, live UI, and the first tuning/export scaffolding.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71FBE-8873-449B-9B5A-D0CF93D0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431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9AA68-96E7-4FD6-9A81-F9C96687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418"/>
                </a:solidFill>
              </a:defRPr>
            </a:pPr>
            <a:r>
              <a:rPr sz="1800" b="1">
                <a:solidFill>
                  <a:srgbClr val="111418"/>
                </a:solidFill>
              </a:rPr>
              <a:t>Demo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5782A-7A20-4924-9887-06A97AD0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8605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0"/>
                </a:solidFill>
              </a:defRPr>
            </a:pPr>
            <a:r>
              <a:rPr sz="1350" b="0">
                <a:solidFill>
                  <a:srgbClr val="5B6570"/>
                </a:solidFill>
              </a:rPr>
              <a:t>Show the product story, the evaluator loop, and how this expands into tuning, bias probes, and structured deliberation.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8A9E1-0EA5-458A-996E-AF66FFCF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Judy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C0348-15D5-4801-B37D-A2879AC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0"/>
                </a:solidFill>
              </a:defRPr>
            </a:pPr>
            <a:r>
              <a:rPr sz="900" b="0">
                <a:solidFill>
                  <a:srgbClr val="5B657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552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2026-06-28T15:54:33.4330000Z</dcterms:created>
  <dcterms:modified xsi:type="dcterms:W3CDTF">2026-06-28T15:54:33.4330000Z</dcterms:modified>
</coreProperties>
</file>